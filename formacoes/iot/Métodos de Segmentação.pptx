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fntdata" ContentType="application/x-fontdata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1" r:id="rId3"/>
    <p:sldId id="418" r:id="rId4"/>
    <p:sldId id="446" r:id="rId5"/>
    <p:sldId id="447" r:id="rId6"/>
    <p:sldId id="448" r:id="rId7"/>
    <p:sldId id="420" r:id="rId8"/>
    <p:sldId id="449" r:id="rId9"/>
    <p:sldId id="450" r:id="rId10"/>
    <p:sldId id="451" r:id="rId11"/>
    <p:sldId id="452" r:id="rId12"/>
    <p:sldId id="270" r:id="rId13"/>
  </p:sldIdLst>
  <p:sldSz cx="9144000" cy="5143500" type="screen16x9"/>
  <p:notesSz cx="6858000" cy="9144000"/>
  <p:embeddedFontLst>
    <p:embeddedFont>
      <p:font typeface="Arial Narrow" panose="020B0606020202030204" pitchFamily="34" charset="0"/>
      <p:regular r:id="rId15"/>
      <p:bold r:id="rId16"/>
      <p:italic r:id="rId17"/>
      <p:boldItalic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Century Gothic" panose="020B0502020202020204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05" roundtripDataSignature="AMtx7mgDeO90I8HBaw4//EzmFDUXWtYA0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2DD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56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93" y="101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10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112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10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07" Type="http://schemas.openxmlformats.org/officeDocument/2006/relationships/viewProps" Target="viewProps.xml"/><Relationship Id="rId111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110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10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105" Type="http://customschemas.google.com/relationships/presentationmetadata" Target="meta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0a4cd88d6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g10a4cd88d6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https://scikit-learn.org/stable/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https://scikit-learn.org/stable/</a:t>
            </a:r>
          </a:p>
        </p:txBody>
      </p:sp>
    </p:spTree>
    <p:extLst>
      <p:ext uri="{BB962C8B-B14F-4D97-AF65-F5344CB8AC3E}">
        <p14:creationId xmlns:p14="http://schemas.microsoft.com/office/powerpoint/2010/main" val="7373940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https://scikit-learn.org/stable/</a:t>
            </a:r>
          </a:p>
        </p:txBody>
      </p:sp>
    </p:spTree>
    <p:extLst>
      <p:ext uri="{BB962C8B-B14F-4D97-AF65-F5344CB8AC3E}">
        <p14:creationId xmlns:p14="http://schemas.microsoft.com/office/powerpoint/2010/main" val="35676652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https://scikit-learn.org/stable/</a:t>
            </a:r>
          </a:p>
        </p:txBody>
      </p:sp>
    </p:spTree>
    <p:extLst>
      <p:ext uri="{BB962C8B-B14F-4D97-AF65-F5344CB8AC3E}">
        <p14:creationId xmlns:p14="http://schemas.microsoft.com/office/powerpoint/2010/main" val="29875755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0a4cd88d6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g10a4cd88d6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16396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https://scikit-learn.org/stable/</a:t>
            </a:r>
          </a:p>
        </p:txBody>
      </p:sp>
    </p:spTree>
    <p:extLst>
      <p:ext uri="{BB962C8B-B14F-4D97-AF65-F5344CB8AC3E}">
        <p14:creationId xmlns:p14="http://schemas.microsoft.com/office/powerpoint/2010/main" val="8116252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https://scikit-learn.org/stable/</a:t>
            </a:r>
          </a:p>
        </p:txBody>
      </p:sp>
    </p:spTree>
    <p:extLst>
      <p:ext uri="{BB962C8B-B14F-4D97-AF65-F5344CB8AC3E}">
        <p14:creationId xmlns:p14="http://schemas.microsoft.com/office/powerpoint/2010/main" val="12996627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https://scikit-learn.org/stable/</a:t>
            </a:r>
          </a:p>
        </p:txBody>
      </p:sp>
    </p:spTree>
    <p:extLst>
      <p:ext uri="{BB962C8B-B14F-4D97-AF65-F5344CB8AC3E}">
        <p14:creationId xmlns:p14="http://schemas.microsoft.com/office/powerpoint/2010/main" val="23305247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https://scikit-learn.org/stable/</a:t>
            </a:r>
          </a:p>
        </p:txBody>
      </p:sp>
    </p:spTree>
    <p:extLst>
      <p:ext uri="{BB962C8B-B14F-4D97-AF65-F5344CB8AC3E}">
        <p14:creationId xmlns:p14="http://schemas.microsoft.com/office/powerpoint/2010/main" val="21886942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1a3cd0d61f_0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g11a3cd0d61f_0_2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109ffa863cd_0_2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g109ffa863cd_0_2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09ffa863cd_0_2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109ffa863cd_0_2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g109ffa863cd_0_25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g109ffa863cd_0_2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09ffa863cd_0_26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g109ffa863cd_0_26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g109ffa863cd_0_26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09ffa863cd_0_26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g109ffa863cd_0_2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09ffa863cd_0_27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09ffa863cd_0_27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g109ffa863cd_0_27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g109ffa863cd_0_27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g109ffa863cd_0_2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09ffa863cd_0_27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g109ffa863cd_0_27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09ffa863cd_0_27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g109ffa863cd_0_27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109ffa863cd_0_27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D4EC5463-B062-47A7-BE31-A8E7E64D8430}" type="datetime1">
              <a:rPr lang="pt-BR" smtClean="0"/>
              <a:pPr/>
              <a:t>28/06/2022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318-652C-439F-8D9B-58C2642D6B53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09ffa863cd_0_2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109ffa863cd_0_2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g109ffa863cd_0_240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127425" y="119987"/>
            <a:ext cx="851525" cy="3314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g109ffa863cd_0_2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r>
              <a:rPr lang="en-US"/>
              <a:t>]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Prof. Dr. Diego Bruno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Education Tech Lead </a:t>
            </a:r>
            <a:r>
              <a:rPr lang="en-US" sz="16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na</a:t>
            </a:r>
            <a:r>
              <a:rPr lang="en-US" sz="16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DIO</a:t>
            </a:r>
            <a:br>
              <a:rPr lang="en-US" sz="16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Doutor</a:t>
            </a:r>
            <a:r>
              <a:rPr lang="en-US" sz="16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em</a:t>
            </a:r>
            <a:r>
              <a:rPr lang="en-US" sz="16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Robótica</a:t>
            </a:r>
            <a:r>
              <a:rPr lang="en-US" sz="16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US" sz="1600" i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Machine Learning </a:t>
            </a:r>
            <a:r>
              <a:rPr lang="en-US" sz="16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pelo</a:t>
            </a:r>
            <a:r>
              <a:rPr lang="en-US" sz="16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ICMC-USP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85011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dirty="0" err="1">
                <a:solidFill>
                  <a:srgbClr val="FF0000"/>
                </a:solidFill>
                <a:latin typeface="Century Gothic" pitchFamily="34" charset="0"/>
              </a:rPr>
              <a:t>Métodos</a:t>
            </a:r>
            <a:r>
              <a:rPr lang="en-US" sz="4000" dirty="0">
                <a:solidFill>
                  <a:srgbClr val="FF0000"/>
                </a:solidFill>
                <a:latin typeface="Century Gothic" pitchFamily="34" charset="0"/>
              </a:rPr>
              <a:t> de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 err="1">
                <a:solidFill>
                  <a:srgbClr val="FF0000"/>
                </a:solidFill>
                <a:latin typeface="Century Gothic" pitchFamily="34" charset="0"/>
              </a:rPr>
              <a:t>Segmentação</a:t>
            </a:r>
            <a:r>
              <a:rPr lang="en-US" sz="4000" b="1" dirty="0">
                <a:solidFill>
                  <a:srgbClr val="FF0000"/>
                </a:solidFill>
                <a:latin typeface="Century Gothic" pitchFamily="34" charset="0"/>
              </a:rPr>
              <a:t> </a:t>
            </a:r>
            <a:endParaRPr lang="en-US" sz="4000" b="1" u="none" strike="noStrike" cap="none" dirty="0">
              <a:solidFill>
                <a:srgbClr val="FF0000"/>
              </a:solidFill>
              <a:latin typeface="Century Gothic" pitchFamily="34" charset="0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t>1</a:t>
            </a:fld>
            <a:r>
              <a:rPr lang="en-US"/>
              <a:t>]</a:t>
            </a:r>
            <a:endParaRPr/>
          </a:p>
        </p:txBody>
      </p:sp>
      <p:pic>
        <p:nvPicPr>
          <p:cNvPr id="2" name="Picture 2" descr="Lenna - Wikipedia">
            <a:extLst>
              <a:ext uri="{FF2B5EF4-FFF2-40B4-BE49-F238E27FC236}">
                <a16:creationId xmlns:a16="http://schemas.microsoft.com/office/drawing/2014/main" id="{E8FAD02B-80D1-DBA3-38D6-D73C91C906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837" y="1038676"/>
            <a:ext cx="2187197" cy="2187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edia Kit - OpenCV">
            <a:extLst>
              <a:ext uri="{FF2B5EF4-FFF2-40B4-BE49-F238E27FC236}">
                <a16:creationId xmlns:a16="http://schemas.microsoft.com/office/drawing/2014/main" id="{5C77B784-8543-396F-28A9-93F1019C47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2886" y="2431064"/>
            <a:ext cx="1159095" cy="1530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0a4cd88d6f_0_57"/>
          <p:cNvSpPr txBox="1"/>
          <p:nvPr/>
        </p:nvSpPr>
        <p:spPr>
          <a:xfrm>
            <a:off x="564043" y="1136901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2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Processamento</a:t>
            </a:r>
            <a:endParaRPr lang="en-US" sz="5200" b="1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200" b="1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 Imagens</a:t>
            </a:r>
            <a:endParaRPr sz="5200" b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55" name="Google Shape;155;g10a4cd88d6f_0_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g10a4cd88d6f_0_5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t>2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  <p:sp>
        <p:nvSpPr>
          <p:cNvPr id="158" name="Google Shape;158;g10a4cd88d6f_0_57"/>
          <p:cNvSpPr txBox="1"/>
          <p:nvPr/>
        </p:nvSpPr>
        <p:spPr>
          <a:xfrm>
            <a:off x="-868123" y="2422059"/>
            <a:ext cx="3997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 dirty="0">
                <a:solidFill>
                  <a:srgbClr val="FFFF00"/>
                </a:solidFill>
              </a:rPr>
              <a:t>                       Machine Learning</a:t>
            </a:r>
            <a:endParaRPr sz="1800" b="1" i="1">
              <a:solidFill>
                <a:srgbClr val="FFFF00"/>
              </a:solidFill>
            </a:endParaRPr>
          </a:p>
        </p:txBody>
      </p:sp>
      <p:pic>
        <p:nvPicPr>
          <p:cNvPr id="11" name="Picture 2" descr="Lenna - Wikipedia">
            <a:extLst>
              <a:ext uri="{FF2B5EF4-FFF2-40B4-BE49-F238E27FC236}">
                <a16:creationId xmlns:a16="http://schemas.microsoft.com/office/drawing/2014/main" id="{79005491-F122-D2B7-8037-C45A6A6F8D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5689" y="1819402"/>
            <a:ext cx="2187197" cy="2187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Media Kit - OpenCV">
            <a:extLst>
              <a:ext uri="{FF2B5EF4-FFF2-40B4-BE49-F238E27FC236}">
                <a16:creationId xmlns:a16="http://schemas.microsoft.com/office/drawing/2014/main" id="{EFAB9505-C5D0-71FF-A6E0-B870C8B152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4798" y="2988625"/>
            <a:ext cx="1159095" cy="1530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179" y="349534"/>
            <a:ext cx="7872410" cy="549038"/>
          </a:xfrm>
        </p:spPr>
        <p:txBody>
          <a:bodyPr>
            <a:noAutofit/>
          </a:bodyPr>
          <a:lstStyle/>
          <a:p>
            <a:br>
              <a:rPr lang="pt-BR" sz="2500" dirty="0">
                <a:latin typeface="Arial Narrow" pitchFamily="34" charset="0"/>
              </a:rPr>
            </a:br>
            <a:r>
              <a:rPr lang="pt-BR" sz="2500" dirty="0">
                <a:latin typeface="Arial Narrow" pitchFamily="34" charset="0"/>
              </a:rPr>
              <a:t> </a:t>
            </a:r>
            <a:br>
              <a:rPr lang="pt-BR" sz="25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500" dirty="0">
                <a:latin typeface="Arial Narrow" pitchFamily="34" charset="0"/>
              </a:rPr>
            </a:br>
            <a:r>
              <a:rPr lang="pt-BR" sz="2500" dirty="0">
                <a:latin typeface="Arial Narrow" pitchFamily="34" charset="0"/>
              </a:rPr>
              <a:t>  </a:t>
            </a:r>
            <a:endParaRPr lang="pt-BR" sz="2500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318-652C-439F-8D9B-58C2642D6B53}" type="slidenum">
              <a:rPr lang="pt-BR" smtClean="0"/>
              <a:pPr/>
              <a:t>3</a:t>
            </a:fld>
            <a:endParaRPr lang="pt-BR"/>
          </a:p>
        </p:txBody>
      </p:sp>
      <p:sp>
        <p:nvSpPr>
          <p:cNvPr id="4" name="AutoShape 2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155575" y="-108347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AutoShape 4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307975" y="59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AutoShape 8" descr="Resultado de imagem para robo png"/>
          <p:cNvSpPr>
            <a:spLocks noChangeAspect="1" noChangeArrowheads="1"/>
          </p:cNvSpPr>
          <p:nvPr/>
        </p:nvSpPr>
        <p:spPr bwMode="auto">
          <a:xfrm>
            <a:off x="460375" y="1202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AutoShape 10" descr="Resultado de imagem para robo png"/>
          <p:cNvSpPr>
            <a:spLocks noChangeAspect="1" noChangeArrowheads="1"/>
          </p:cNvSpPr>
          <p:nvPr/>
        </p:nvSpPr>
        <p:spPr bwMode="auto">
          <a:xfrm>
            <a:off x="612775" y="2345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" name="AutoShape 12" descr="Resultado de imagem para robo png"/>
          <p:cNvSpPr>
            <a:spLocks noChangeAspect="1" noChangeArrowheads="1"/>
          </p:cNvSpPr>
          <p:nvPr/>
        </p:nvSpPr>
        <p:spPr bwMode="auto">
          <a:xfrm>
            <a:off x="765175" y="3488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2" descr="blob:https://web.whatsapp.com/2e92c05e-036e-4518-bae6-2898470d3e0f"/>
          <p:cNvSpPr>
            <a:spLocks noChangeAspect="1" noChangeArrowheads="1"/>
          </p:cNvSpPr>
          <p:nvPr/>
        </p:nvSpPr>
        <p:spPr bwMode="auto">
          <a:xfrm>
            <a:off x="917575" y="4631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6" name="Google Shape;58;p2"/>
          <p:cNvSpPr txBox="1"/>
          <p:nvPr/>
        </p:nvSpPr>
        <p:spPr>
          <a:xfrm>
            <a:off x="299950" y="297180"/>
            <a:ext cx="8224009" cy="691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pt-BR" sz="36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 de Segmentação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endParaRPr sz="36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026" name="Picture 2" descr="Segmentação de imagens/Image segmentation | Maycol de Alencar">
            <a:extLst>
              <a:ext uri="{FF2B5EF4-FFF2-40B4-BE49-F238E27FC236}">
                <a16:creationId xmlns:a16="http://schemas.microsoft.com/office/drawing/2014/main" id="{8603A66F-76EC-7363-F058-C22E321704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50" y="1664319"/>
            <a:ext cx="7381875" cy="2486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CEC3607E-4F2C-BAE5-8E32-B784C2360714}"/>
              </a:ext>
            </a:extLst>
          </p:cNvPr>
          <p:cNvSpPr txBox="1"/>
          <p:nvPr/>
        </p:nvSpPr>
        <p:spPr>
          <a:xfrm>
            <a:off x="355755" y="1012191"/>
            <a:ext cx="73818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Segmentação é uma tarefa básica para a base da Visão Computacional</a:t>
            </a:r>
          </a:p>
        </p:txBody>
      </p:sp>
    </p:spTree>
    <p:extLst>
      <p:ext uri="{BB962C8B-B14F-4D97-AF65-F5344CB8AC3E}">
        <p14:creationId xmlns:p14="http://schemas.microsoft.com/office/powerpoint/2010/main" val="3655924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179" y="349534"/>
            <a:ext cx="7872410" cy="549038"/>
          </a:xfrm>
        </p:spPr>
        <p:txBody>
          <a:bodyPr>
            <a:noAutofit/>
          </a:bodyPr>
          <a:lstStyle/>
          <a:p>
            <a:br>
              <a:rPr lang="pt-BR" sz="2500" dirty="0">
                <a:latin typeface="Arial Narrow" pitchFamily="34" charset="0"/>
              </a:rPr>
            </a:br>
            <a:r>
              <a:rPr lang="pt-BR" sz="2500" dirty="0">
                <a:latin typeface="Arial Narrow" pitchFamily="34" charset="0"/>
              </a:rPr>
              <a:t> </a:t>
            </a:r>
            <a:br>
              <a:rPr lang="pt-BR" sz="25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500" dirty="0">
                <a:latin typeface="Arial Narrow" pitchFamily="34" charset="0"/>
              </a:rPr>
            </a:br>
            <a:r>
              <a:rPr lang="pt-BR" sz="2500" dirty="0">
                <a:latin typeface="Arial Narrow" pitchFamily="34" charset="0"/>
              </a:rPr>
              <a:t>  </a:t>
            </a:r>
            <a:endParaRPr lang="pt-BR" sz="2500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318-652C-439F-8D9B-58C2642D6B53}" type="slidenum">
              <a:rPr lang="pt-BR" smtClean="0"/>
              <a:pPr/>
              <a:t>4</a:t>
            </a:fld>
            <a:endParaRPr lang="pt-BR"/>
          </a:p>
        </p:txBody>
      </p:sp>
      <p:sp>
        <p:nvSpPr>
          <p:cNvPr id="4" name="AutoShape 2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155575" y="-108347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AutoShape 4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307975" y="59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AutoShape 8" descr="Resultado de imagem para robo png"/>
          <p:cNvSpPr>
            <a:spLocks noChangeAspect="1" noChangeArrowheads="1"/>
          </p:cNvSpPr>
          <p:nvPr/>
        </p:nvSpPr>
        <p:spPr bwMode="auto">
          <a:xfrm>
            <a:off x="460375" y="1202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AutoShape 10" descr="Resultado de imagem para robo png"/>
          <p:cNvSpPr>
            <a:spLocks noChangeAspect="1" noChangeArrowheads="1"/>
          </p:cNvSpPr>
          <p:nvPr/>
        </p:nvSpPr>
        <p:spPr bwMode="auto">
          <a:xfrm>
            <a:off x="612775" y="2345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" name="AutoShape 12" descr="Resultado de imagem para robo png"/>
          <p:cNvSpPr>
            <a:spLocks noChangeAspect="1" noChangeArrowheads="1"/>
          </p:cNvSpPr>
          <p:nvPr/>
        </p:nvSpPr>
        <p:spPr bwMode="auto">
          <a:xfrm>
            <a:off x="765175" y="3488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2" descr="blob:https://web.whatsapp.com/2e92c05e-036e-4518-bae6-2898470d3e0f"/>
          <p:cNvSpPr>
            <a:spLocks noChangeAspect="1" noChangeArrowheads="1"/>
          </p:cNvSpPr>
          <p:nvPr/>
        </p:nvSpPr>
        <p:spPr bwMode="auto">
          <a:xfrm>
            <a:off x="917575" y="4631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6" name="Google Shape;58;p2"/>
          <p:cNvSpPr txBox="1"/>
          <p:nvPr/>
        </p:nvSpPr>
        <p:spPr>
          <a:xfrm>
            <a:off x="299950" y="297180"/>
            <a:ext cx="8224009" cy="691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pt-BR" sz="36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 de Segmentação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endParaRPr sz="36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EC3607E-4F2C-BAE5-8E32-B784C2360714}"/>
              </a:ext>
            </a:extLst>
          </p:cNvPr>
          <p:cNvSpPr txBox="1"/>
          <p:nvPr/>
        </p:nvSpPr>
        <p:spPr>
          <a:xfrm>
            <a:off x="355755" y="1012191"/>
            <a:ext cx="73818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Segmentação é uma tarefa básica para a base da Visão Computacional</a:t>
            </a:r>
          </a:p>
        </p:txBody>
      </p:sp>
      <p:pic>
        <p:nvPicPr>
          <p:cNvPr id="2050" name="Picture 2" descr="Segmentação de Imagens Médicas com Deep Learning - Data Science Academy">
            <a:extLst>
              <a:ext uri="{FF2B5EF4-FFF2-40B4-BE49-F238E27FC236}">
                <a16:creationId xmlns:a16="http://schemas.microsoft.com/office/drawing/2014/main" id="{7C3A1EB3-2AF7-0E65-BB4F-1CAB75F28D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50" y="1463829"/>
            <a:ext cx="7095258" cy="3216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3976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179" y="349534"/>
            <a:ext cx="7872410" cy="549038"/>
          </a:xfrm>
        </p:spPr>
        <p:txBody>
          <a:bodyPr>
            <a:noAutofit/>
          </a:bodyPr>
          <a:lstStyle/>
          <a:p>
            <a:br>
              <a:rPr lang="pt-BR" sz="2500" dirty="0">
                <a:latin typeface="Arial Narrow" pitchFamily="34" charset="0"/>
              </a:rPr>
            </a:br>
            <a:r>
              <a:rPr lang="pt-BR" sz="2500" dirty="0">
                <a:latin typeface="Arial Narrow" pitchFamily="34" charset="0"/>
              </a:rPr>
              <a:t> </a:t>
            </a:r>
            <a:br>
              <a:rPr lang="pt-BR" sz="25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500" dirty="0">
                <a:latin typeface="Arial Narrow" pitchFamily="34" charset="0"/>
              </a:rPr>
            </a:br>
            <a:r>
              <a:rPr lang="pt-BR" sz="2500" dirty="0">
                <a:latin typeface="Arial Narrow" pitchFamily="34" charset="0"/>
              </a:rPr>
              <a:t>  </a:t>
            </a:r>
            <a:endParaRPr lang="pt-BR" sz="2500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318-652C-439F-8D9B-58C2642D6B53}" type="slidenum">
              <a:rPr lang="pt-BR" smtClean="0"/>
              <a:pPr/>
              <a:t>5</a:t>
            </a:fld>
            <a:endParaRPr lang="pt-BR"/>
          </a:p>
        </p:txBody>
      </p:sp>
      <p:sp>
        <p:nvSpPr>
          <p:cNvPr id="4" name="AutoShape 2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155575" y="-108347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AutoShape 4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307975" y="59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AutoShape 8" descr="Resultado de imagem para robo png"/>
          <p:cNvSpPr>
            <a:spLocks noChangeAspect="1" noChangeArrowheads="1"/>
          </p:cNvSpPr>
          <p:nvPr/>
        </p:nvSpPr>
        <p:spPr bwMode="auto">
          <a:xfrm>
            <a:off x="460375" y="1202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AutoShape 10" descr="Resultado de imagem para robo png"/>
          <p:cNvSpPr>
            <a:spLocks noChangeAspect="1" noChangeArrowheads="1"/>
          </p:cNvSpPr>
          <p:nvPr/>
        </p:nvSpPr>
        <p:spPr bwMode="auto">
          <a:xfrm>
            <a:off x="612775" y="2345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" name="AutoShape 12" descr="Resultado de imagem para robo png"/>
          <p:cNvSpPr>
            <a:spLocks noChangeAspect="1" noChangeArrowheads="1"/>
          </p:cNvSpPr>
          <p:nvPr/>
        </p:nvSpPr>
        <p:spPr bwMode="auto">
          <a:xfrm>
            <a:off x="765175" y="3488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2" descr="blob:https://web.whatsapp.com/2e92c05e-036e-4518-bae6-2898470d3e0f"/>
          <p:cNvSpPr>
            <a:spLocks noChangeAspect="1" noChangeArrowheads="1"/>
          </p:cNvSpPr>
          <p:nvPr/>
        </p:nvSpPr>
        <p:spPr bwMode="auto">
          <a:xfrm>
            <a:off x="917575" y="4631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6" name="Google Shape;58;p2"/>
          <p:cNvSpPr txBox="1"/>
          <p:nvPr/>
        </p:nvSpPr>
        <p:spPr>
          <a:xfrm>
            <a:off x="299950" y="297180"/>
            <a:ext cx="8224009" cy="691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pt-BR" sz="36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 de Segmentação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endParaRPr sz="36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EC3607E-4F2C-BAE5-8E32-B784C2360714}"/>
              </a:ext>
            </a:extLst>
          </p:cNvPr>
          <p:cNvSpPr txBox="1"/>
          <p:nvPr/>
        </p:nvSpPr>
        <p:spPr>
          <a:xfrm>
            <a:off x="355755" y="1012191"/>
            <a:ext cx="73818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Segmentação é uma tarefa básica para a base da Visão Computacional</a:t>
            </a:r>
          </a:p>
        </p:txBody>
      </p:sp>
      <p:pic>
        <p:nvPicPr>
          <p:cNvPr id="3074" name="Picture 2" descr="Segmentação (processamento de imagem) – Wikipédia, a enciclopédia livre">
            <a:extLst>
              <a:ext uri="{FF2B5EF4-FFF2-40B4-BE49-F238E27FC236}">
                <a16:creationId xmlns:a16="http://schemas.microsoft.com/office/drawing/2014/main" id="{24B10B19-A459-1411-D921-9BDF0EE549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414" y="1586377"/>
            <a:ext cx="7316216" cy="2109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751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179" y="349534"/>
            <a:ext cx="7872410" cy="549038"/>
          </a:xfrm>
        </p:spPr>
        <p:txBody>
          <a:bodyPr>
            <a:noAutofit/>
          </a:bodyPr>
          <a:lstStyle/>
          <a:p>
            <a:br>
              <a:rPr lang="pt-BR" sz="2500" dirty="0">
                <a:latin typeface="Arial Narrow" pitchFamily="34" charset="0"/>
              </a:rPr>
            </a:br>
            <a:r>
              <a:rPr lang="pt-BR" sz="2500" dirty="0">
                <a:latin typeface="Arial Narrow" pitchFamily="34" charset="0"/>
              </a:rPr>
              <a:t> </a:t>
            </a:r>
            <a:br>
              <a:rPr lang="pt-BR" sz="25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500" dirty="0">
                <a:latin typeface="Arial Narrow" pitchFamily="34" charset="0"/>
              </a:rPr>
            </a:br>
            <a:r>
              <a:rPr lang="pt-BR" sz="2500" dirty="0">
                <a:latin typeface="Arial Narrow" pitchFamily="34" charset="0"/>
              </a:rPr>
              <a:t>  </a:t>
            </a:r>
            <a:endParaRPr lang="pt-BR" sz="2500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318-652C-439F-8D9B-58C2642D6B53}" type="slidenum">
              <a:rPr lang="pt-BR" smtClean="0"/>
              <a:pPr/>
              <a:t>6</a:t>
            </a:fld>
            <a:endParaRPr lang="pt-BR"/>
          </a:p>
        </p:txBody>
      </p:sp>
      <p:sp>
        <p:nvSpPr>
          <p:cNvPr id="4" name="AutoShape 2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155575" y="-108347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AutoShape 4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307975" y="59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AutoShape 8" descr="Resultado de imagem para robo png"/>
          <p:cNvSpPr>
            <a:spLocks noChangeAspect="1" noChangeArrowheads="1"/>
          </p:cNvSpPr>
          <p:nvPr/>
        </p:nvSpPr>
        <p:spPr bwMode="auto">
          <a:xfrm>
            <a:off x="460375" y="1202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AutoShape 10" descr="Resultado de imagem para robo png"/>
          <p:cNvSpPr>
            <a:spLocks noChangeAspect="1" noChangeArrowheads="1"/>
          </p:cNvSpPr>
          <p:nvPr/>
        </p:nvSpPr>
        <p:spPr bwMode="auto">
          <a:xfrm>
            <a:off x="612775" y="2345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" name="AutoShape 12" descr="Resultado de imagem para robo png"/>
          <p:cNvSpPr>
            <a:spLocks noChangeAspect="1" noChangeArrowheads="1"/>
          </p:cNvSpPr>
          <p:nvPr/>
        </p:nvSpPr>
        <p:spPr bwMode="auto">
          <a:xfrm>
            <a:off x="765175" y="3488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2" descr="blob:https://web.whatsapp.com/2e92c05e-036e-4518-bae6-2898470d3e0f"/>
          <p:cNvSpPr>
            <a:spLocks noChangeAspect="1" noChangeArrowheads="1"/>
          </p:cNvSpPr>
          <p:nvPr/>
        </p:nvSpPr>
        <p:spPr bwMode="auto">
          <a:xfrm>
            <a:off x="917575" y="4631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6" name="Google Shape;58;p2"/>
          <p:cNvSpPr txBox="1"/>
          <p:nvPr/>
        </p:nvSpPr>
        <p:spPr>
          <a:xfrm>
            <a:off x="299950" y="297180"/>
            <a:ext cx="8224009" cy="691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pt-BR" sz="36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 de Segmentação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endParaRPr sz="36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EC3607E-4F2C-BAE5-8E32-B784C2360714}"/>
              </a:ext>
            </a:extLst>
          </p:cNvPr>
          <p:cNvSpPr txBox="1"/>
          <p:nvPr/>
        </p:nvSpPr>
        <p:spPr>
          <a:xfrm>
            <a:off x="355755" y="1012191"/>
            <a:ext cx="73818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Segmentação é uma tarefa básica para a base da Visão Computacional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E12B555-17AA-4A61-948B-F7BF45F754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75" y="1694448"/>
            <a:ext cx="7089001" cy="1754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630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BFDDB557-77E9-EBBE-FBF1-DB1BD52B8AD9}"/>
              </a:ext>
            </a:extLst>
          </p:cNvPr>
          <p:cNvSpPr/>
          <p:nvPr/>
        </p:nvSpPr>
        <p:spPr>
          <a:xfrm>
            <a:off x="0" y="0"/>
            <a:ext cx="9144000" cy="514345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54" name="Google Shape;154;g10a4cd88d6f_0_57"/>
          <p:cNvSpPr txBox="1"/>
          <p:nvPr/>
        </p:nvSpPr>
        <p:spPr>
          <a:xfrm>
            <a:off x="407926" y="977517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2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</a:t>
            </a:r>
            <a:r>
              <a:rPr lang="en-US" sz="52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2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Segmentação</a:t>
            </a:r>
            <a:endParaRPr sz="5200" b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55" name="Google Shape;155;g10a4cd88d6f_0_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g10a4cd88d6f_0_5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t>7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  <p:sp>
        <p:nvSpPr>
          <p:cNvPr id="158" name="Google Shape;158;g10a4cd88d6f_0_57"/>
          <p:cNvSpPr txBox="1"/>
          <p:nvPr/>
        </p:nvSpPr>
        <p:spPr>
          <a:xfrm>
            <a:off x="-1053976" y="2273802"/>
            <a:ext cx="3997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 dirty="0">
                <a:solidFill>
                  <a:srgbClr val="FFFF00"/>
                </a:solidFill>
              </a:rPr>
              <a:t>                       Machine Learning</a:t>
            </a:r>
            <a:endParaRPr sz="1800" b="1" i="1" dirty="0">
              <a:solidFill>
                <a:srgbClr val="FFFF00"/>
              </a:solidFill>
            </a:endParaRPr>
          </a:p>
        </p:txBody>
      </p:sp>
      <p:pic>
        <p:nvPicPr>
          <p:cNvPr id="11" name="Picture 2" descr="Lenna - Wikipedia">
            <a:extLst>
              <a:ext uri="{FF2B5EF4-FFF2-40B4-BE49-F238E27FC236}">
                <a16:creationId xmlns:a16="http://schemas.microsoft.com/office/drawing/2014/main" id="{79005491-F122-D2B7-8037-C45A6A6F8D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5689" y="1819402"/>
            <a:ext cx="2187197" cy="2187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Media Kit - OpenCV">
            <a:extLst>
              <a:ext uri="{FF2B5EF4-FFF2-40B4-BE49-F238E27FC236}">
                <a16:creationId xmlns:a16="http://schemas.microsoft.com/office/drawing/2014/main" id="{EFAB9505-C5D0-71FF-A6E0-B870C8B152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4798" y="2988625"/>
            <a:ext cx="1159095" cy="1530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6932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179" y="349534"/>
            <a:ext cx="7872410" cy="549038"/>
          </a:xfrm>
        </p:spPr>
        <p:txBody>
          <a:bodyPr>
            <a:noAutofit/>
          </a:bodyPr>
          <a:lstStyle/>
          <a:p>
            <a:br>
              <a:rPr lang="pt-BR" sz="2500" dirty="0">
                <a:latin typeface="Arial Narrow" pitchFamily="34" charset="0"/>
              </a:rPr>
            </a:br>
            <a:r>
              <a:rPr lang="pt-BR" sz="2500" dirty="0">
                <a:latin typeface="Arial Narrow" pitchFamily="34" charset="0"/>
              </a:rPr>
              <a:t> </a:t>
            </a:r>
            <a:br>
              <a:rPr lang="pt-BR" sz="25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500" dirty="0">
                <a:latin typeface="Arial Narrow" pitchFamily="34" charset="0"/>
              </a:rPr>
            </a:br>
            <a:r>
              <a:rPr lang="pt-BR" sz="2500" dirty="0">
                <a:latin typeface="Arial Narrow" pitchFamily="34" charset="0"/>
              </a:rPr>
              <a:t>  </a:t>
            </a:r>
            <a:endParaRPr lang="pt-BR" sz="2500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318-652C-439F-8D9B-58C2642D6B53}" type="slidenum">
              <a:rPr lang="pt-BR" smtClean="0"/>
              <a:pPr/>
              <a:t>8</a:t>
            </a:fld>
            <a:endParaRPr lang="pt-BR"/>
          </a:p>
        </p:txBody>
      </p:sp>
      <p:sp>
        <p:nvSpPr>
          <p:cNvPr id="4" name="AutoShape 2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155575" y="-108347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AutoShape 4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307975" y="59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AutoShape 8" descr="Resultado de imagem para robo png"/>
          <p:cNvSpPr>
            <a:spLocks noChangeAspect="1" noChangeArrowheads="1"/>
          </p:cNvSpPr>
          <p:nvPr/>
        </p:nvSpPr>
        <p:spPr bwMode="auto">
          <a:xfrm>
            <a:off x="460375" y="1202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AutoShape 10" descr="Resultado de imagem para robo png"/>
          <p:cNvSpPr>
            <a:spLocks noChangeAspect="1" noChangeArrowheads="1"/>
          </p:cNvSpPr>
          <p:nvPr/>
        </p:nvSpPr>
        <p:spPr bwMode="auto">
          <a:xfrm>
            <a:off x="612775" y="2345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" name="AutoShape 12" descr="Resultado de imagem para robo png"/>
          <p:cNvSpPr>
            <a:spLocks noChangeAspect="1" noChangeArrowheads="1"/>
          </p:cNvSpPr>
          <p:nvPr/>
        </p:nvSpPr>
        <p:spPr bwMode="auto">
          <a:xfrm>
            <a:off x="765175" y="3488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2" descr="blob:https://web.whatsapp.com/2e92c05e-036e-4518-bae6-2898470d3e0f"/>
          <p:cNvSpPr>
            <a:spLocks noChangeAspect="1" noChangeArrowheads="1"/>
          </p:cNvSpPr>
          <p:nvPr/>
        </p:nvSpPr>
        <p:spPr bwMode="auto">
          <a:xfrm>
            <a:off x="917575" y="4631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6" name="Google Shape;58;p2"/>
          <p:cNvSpPr txBox="1"/>
          <p:nvPr/>
        </p:nvSpPr>
        <p:spPr>
          <a:xfrm>
            <a:off x="299950" y="297180"/>
            <a:ext cx="8224009" cy="691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pt-BR" sz="36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Filtro de Sobel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endParaRPr sz="36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EC3607E-4F2C-BAE5-8E32-B784C2360714}"/>
              </a:ext>
            </a:extLst>
          </p:cNvPr>
          <p:cNvSpPr txBox="1"/>
          <p:nvPr/>
        </p:nvSpPr>
        <p:spPr>
          <a:xfrm>
            <a:off x="355755" y="1012191"/>
            <a:ext cx="73818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Filtro que evidência as bordas de um objeto.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C1165B5F-31C2-7CAC-3F6B-E192DD310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1508576"/>
            <a:ext cx="7160750" cy="2386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5902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179" y="349534"/>
            <a:ext cx="7872410" cy="549038"/>
          </a:xfrm>
        </p:spPr>
        <p:txBody>
          <a:bodyPr>
            <a:noAutofit/>
          </a:bodyPr>
          <a:lstStyle/>
          <a:p>
            <a:br>
              <a:rPr lang="pt-BR" sz="2500" dirty="0">
                <a:latin typeface="Arial Narrow" pitchFamily="34" charset="0"/>
              </a:rPr>
            </a:br>
            <a:r>
              <a:rPr lang="pt-BR" sz="2500" dirty="0">
                <a:latin typeface="Arial Narrow" pitchFamily="34" charset="0"/>
              </a:rPr>
              <a:t> </a:t>
            </a:r>
            <a:br>
              <a:rPr lang="pt-BR" sz="25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500" dirty="0">
                <a:latin typeface="Arial Narrow" pitchFamily="34" charset="0"/>
              </a:rPr>
            </a:br>
            <a:r>
              <a:rPr lang="pt-BR" sz="2500" dirty="0">
                <a:latin typeface="Arial Narrow" pitchFamily="34" charset="0"/>
              </a:rPr>
              <a:t>  </a:t>
            </a:r>
            <a:endParaRPr lang="pt-BR" sz="2500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318-652C-439F-8D9B-58C2642D6B53}" type="slidenum">
              <a:rPr lang="pt-BR" smtClean="0"/>
              <a:pPr/>
              <a:t>9</a:t>
            </a:fld>
            <a:endParaRPr lang="pt-BR"/>
          </a:p>
        </p:txBody>
      </p:sp>
      <p:sp>
        <p:nvSpPr>
          <p:cNvPr id="4" name="AutoShape 2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155575" y="-108347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AutoShape 4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307975" y="59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AutoShape 8" descr="Resultado de imagem para robo png"/>
          <p:cNvSpPr>
            <a:spLocks noChangeAspect="1" noChangeArrowheads="1"/>
          </p:cNvSpPr>
          <p:nvPr/>
        </p:nvSpPr>
        <p:spPr bwMode="auto">
          <a:xfrm>
            <a:off x="460375" y="1202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AutoShape 10" descr="Resultado de imagem para robo png"/>
          <p:cNvSpPr>
            <a:spLocks noChangeAspect="1" noChangeArrowheads="1"/>
          </p:cNvSpPr>
          <p:nvPr/>
        </p:nvSpPr>
        <p:spPr bwMode="auto">
          <a:xfrm>
            <a:off x="612775" y="2345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" name="AutoShape 12" descr="Resultado de imagem para robo png"/>
          <p:cNvSpPr>
            <a:spLocks noChangeAspect="1" noChangeArrowheads="1"/>
          </p:cNvSpPr>
          <p:nvPr/>
        </p:nvSpPr>
        <p:spPr bwMode="auto">
          <a:xfrm>
            <a:off x="765175" y="3488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2" descr="blob:https://web.whatsapp.com/2e92c05e-036e-4518-bae6-2898470d3e0f"/>
          <p:cNvSpPr>
            <a:spLocks noChangeAspect="1" noChangeArrowheads="1"/>
          </p:cNvSpPr>
          <p:nvPr/>
        </p:nvSpPr>
        <p:spPr bwMode="auto">
          <a:xfrm>
            <a:off x="917575" y="4631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6" name="Google Shape;58;p2"/>
          <p:cNvSpPr txBox="1"/>
          <p:nvPr/>
        </p:nvSpPr>
        <p:spPr>
          <a:xfrm>
            <a:off x="299950" y="297180"/>
            <a:ext cx="8224009" cy="691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pt-BR" sz="36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Filtro de Sobel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endParaRPr sz="36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EC3607E-4F2C-BAE5-8E32-B784C2360714}"/>
              </a:ext>
            </a:extLst>
          </p:cNvPr>
          <p:cNvSpPr txBox="1"/>
          <p:nvPr/>
        </p:nvSpPr>
        <p:spPr>
          <a:xfrm>
            <a:off x="355755" y="1012191"/>
            <a:ext cx="73818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Filtro que evidência as bordas de um objeto.</a:t>
            </a:r>
          </a:p>
        </p:txBody>
      </p:sp>
      <p:pic>
        <p:nvPicPr>
          <p:cNvPr id="6146" name="Picture 2" descr="Filtro Sobel – Wikipédia, a enciclopédia livre">
            <a:extLst>
              <a:ext uri="{FF2B5EF4-FFF2-40B4-BE49-F238E27FC236}">
                <a16:creationId xmlns:a16="http://schemas.microsoft.com/office/drawing/2014/main" id="{40F24064-59E9-3D19-E165-5C31B9A36E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4" y="1704278"/>
            <a:ext cx="6271825" cy="957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IMGedu">
            <a:extLst>
              <a:ext uri="{FF2B5EF4-FFF2-40B4-BE49-F238E27FC236}">
                <a16:creationId xmlns:a16="http://schemas.microsoft.com/office/drawing/2014/main" id="{3B66E6BE-789D-73F0-EDCF-A659D05C41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534" y="3014957"/>
            <a:ext cx="375285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15E84BAF-3C3B-18C8-D0BF-C161CAFAAF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4571999" y="2913898"/>
            <a:ext cx="1888273" cy="1888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576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179" y="349534"/>
            <a:ext cx="7872410" cy="549038"/>
          </a:xfrm>
        </p:spPr>
        <p:txBody>
          <a:bodyPr>
            <a:noAutofit/>
          </a:bodyPr>
          <a:lstStyle/>
          <a:p>
            <a:br>
              <a:rPr lang="pt-BR" sz="2500" dirty="0">
                <a:latin typeface="Arial Narrow" pitchFamily="34" charset="0"/>
              </a:rPr>
            </a:br>
            <a:r>
              <a:rPr lang="pt-BR" sz="2500" dirty="0">
                <a:latin typeface="Arial Narrow" pitchFamily="34" charset="0"/>
              </a:rPr>
              <a:t> </a:t>
            </a:r>
            <a:br>
              <a:rPr lang="pt-BR" sz="25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500" dirty="0">
                <a:latin typeface="Arial Narrow" pitchFamily="34" charset="0"/>
              </a:rPr>
            </a:br>
            <a:r>
              <a:rPr lang="pt-BR" sz="2500" dirty="0">
                <a:latin typeface="Arial Narrow" pitchFamily="34" charset="0"/>
              </a:rPr>
              <a:t>  </a:t>
            </a:r>
            <a:endParaRPr lang="pt-BR" sz="2500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318-652C-439F-8D9B-58C2642D6B53}" type="slidenum">
              <a:rPr lang="pt-BR" smtClean="0"/>
              <a:pPr/>
              <a:t>10</a:t>
            </a:fld>
            <a:endParaRPr lang="pt-BR"/>
          </a:p>
        </p:txBody>
      </p:sp>
      <p:sp>
        <p:nvSpPr>
          <p:cNvPr id="4" name="AutoShape 2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155575" y="-108347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AutoShape 4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307975" y="59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AutoShape 8" descr="Resultado de imagem para robo png"/>
          <p:cNvSpPr>
            <a:spLocks noChangeAspect="1" noChangeArrowheads="1"/>
          </p:cNvSpPr>
          <p:nvPr/>
        </p:nvSpPr>
        <p:spPr bwMode="auto">
          <a:xfrm>
            <a:off x="460375" y="1202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AutoShape 10" descr="Resultado de imagem para robo png"/>
          <p:cNvSpPr>
            <a:spLocks noChangeAspect="1" noChangeArrowheads="1"/>
          </p:cNvSpPr>
          <p:nvPr/>
        </p:nvSpPr>
        <p:spPr bwMode="auto">
          <a:xfrm>
            <a:off x="612775" y="2345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" name="AutoShape 12" descr="Resultado de imagem para robo png"/>
          <p:cNvSpPr>
            <a:spLocks noChangeAspect="1" noChangeArrowheads="1"/>
          </p:cNvSpPr>
          <p:nvPr/>
        </p:nvSpPr>
        <p:spPr bwMode="auto">
          <a:xfrm>
            <a:off x="765175" y="3488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2" descr="blob:https://web.whatsapp.com/2e92c05e-036e-4518-bae6-2898470d3e0f"/>
          <p:cNvSpPr>
            <a:spLocks noChangeAspect="1" noChangeArrowheads="1"/>
          </p:cNvSpPr>
          <p:nvPr/>
        </p:nvSpPr>
        <p:spPr bwMode="auto">
          <a:xfrm>
            <a:off x="917575" y="4631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6" name="Google Shape;58;p2"/>
          <p:cNvSpPr txBox="1"/>
          <p:nvPr/>
        </p:nvSpPr>
        <p:spPr>
          <a:xfrm>
            <a:off x="299950" y="297180"/>
            <a:ext cx="8224009" cy="691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pt-BR" sz="36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Filtro de </a:t>
            </a:r>
            <a:r>
              <a:rPr lang="pt-BR" sz="36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Prewitt</a:t>
            </a:r>
            <a:endParaRPr lang="pt-BR" sz="36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endParaRPr sz="36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EC3607E-4F2C-BAE5-8E32-B784C2360714}"/>
              </a:ext>
            </a:extLst>
          </p:cNvPr>
          <p:cNvSpPr txBox="1"/>
          <p:nvPr/>
        </p:nvSpPr>
        <p:spPr>
          <a:xfrm>
            <a:off x="355755" y="1012191"/>
            <a:ext cx="73818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Filtro que evidência as bordas de um objeto.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300165C9-DB56-9F28-D2AB-F6590A219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75" y="1460810"/>
            <a:ext cx="5844401" cy="2915634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69FFDCD9-902D-8C7A-5131-D238E2241207}"/>
              </a:ext>
            </a:extLst>
          </p:cNvPr>
          <p:cNvSpPr txBox="1"/>
          <p:nvPr/>
        </p:nvSpPr>
        <p:spPr>
          <a:xfrm>
            <a:off x="1069974" y="4445620"/>
            <a:ext cx="49070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          </a:t>
            </a:r>
            <a:r>
              <a:rPr lang="pt-BR" i="1" dirty="0"/>
              <a:t>Roberts</a:t>
            </a:r>
            <a:r>
              <a:rPr lang="pt-BR" dirty="0"/>
              <a:t>                                                 </a:t>
            </a:r>
            <a:r>
              <a:rPr lang="pt-BR" i="1" dirty="0" err="1"/>
              <a:t>Prewitt</a:t>
            </a:r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79906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179" y="349534"/>
            <a:ext cx="7872410" cy="549038"/>
          </a:xfrm>
        </p:spPr>
        <p:txBody>
          <a:bodyPr>
            <a:noAutofit/>
          </a:bodyPr>
          <a:lstStyle/>
          <a:p>
            <a:br>
              <a:rPr lang="pt-BR" sz="2500" dirty="0">
                <a:latin typeface="Arial Narrow" pitchFamily="34" charset="0"/>
              </a:rPr>
            </a:br>
            <a:r>
              <a:rPr lang="pt-BR" sz="2500" dirty="0">
                <a:latin typeface="Arial Narrow" pitchFamily="34" charset="0"/>
              </a:rPr>
              <a:t> </a:t>
            </a:r>
            <a:br>
              <a:rPr lang="pt-BR" sz="25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500" dirty="0">
                <a:latin typeface="Arial Narrow" pitchFamily="34" charset="0"/>
              </a:rPr>
            </a:br>
            <a:r>
              <a:rPr lang="pt-BR" sz="2500" dirty="0">
                <a:latin typeface="Arial Narrow" pitchFamily="34" charset="0"/>
              </a:rPr>
              <a:t>  </a:t>
            </a:r>
            <a:endParaRPr lang="pt-BR" sz="2500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318-652C-439F-8D9B-58C2642D6B53}" type="slidenum">
              <a:rPr lang="pt-BR" smtClean="0"/>
              <a:pPr/>
              <a:t>11</a:t>
            </a:fld>
            <a:endParaRPr lang="pt-BR"/>
          </a:p>
        </p:txBody>
      </p:sp>
      <p:sp>
        <p:nvSpPr>
          <p:cNvPr id="4" name="AutoShape 2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155575" y="-108347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AutoShape 4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307975" y="59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AutoShape 8" descr="Resultado de imagem para robo png"/>
          <p:cNvSpPr>
            <a:spLocks noChangeAspect="1" noChangeArrowheads="1"/>
          </p:cNvSpPr>
          <p:nvPr/>
        </p:nvSpPr>
        <p:spPr bwMode="auto">
          <a:xfrm>
            <a:off x="460375" y="1202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AutoShape 10" descr="Resultado de imagem para robo png"/>
          <p:cNvSpPr>
            <a:spLocks noChangeAspect="1" noChangeArrowheads="1"/>
          </p:cNvSpPr>
          <p:nvPr/>
        </p:nvSpPr>
        <p:spPr bwMode="auto">
          <a:xfrm>
            <a:off x="612775" y="2345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" name="AutoShape 12" descr="Resultado de imagem para robo png"/>
          <p:cNvSpPr>
            <a:spLocks noChangeAspect="1" noChangeArrowheads="1"/>
          </p:cNvSpPr>
          <p:nvPr/>
        </p:nvSpPr>
        <p:spPr bwMode="auto">
          <a:xfrm>
            <a:off x="765175" y="3488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2" descr="blob:https://web.whatsapp.com/2e92c05e-036e-4518-bae6-2898470d3e0f"/>
          <p:cNvSpPr>
            <a:spLocks noChangeAspect="1" noChangeArrowheads="1"/>
          </p:cNvSpPr>
          <p:nvPr/>
        </p:nvSpPr>
        <p:spPr bwMode="auto">
          <a:xfrm>
            <a:off x="917575" y="4631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6" name="Google Shape;58;p2"/>
          <p:cNvSpPr txBox="1"/>
          <p:nvPr/>
        </p:nvSpPr>
        <p:spPr>
          <a:xfrm>
            <a:off x="299950" y="297180"/>
            <a:ext cx="8224009" cy="691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pt-BR" sz="36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Filtro de </a:t>
            </a:r>
            <a:r>
              <a:rPr lang="pt-BR" sz="36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Prewitt</a:t>
            </a:r>
            <a:endParaRPr lang="pt-BR" sz="36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endParaRPr sz="36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EC3607E-4F2C-BAE5-8E32-B784C2360714}"/>
              </a:ext>
            </a:extLst>
          </p:cNvPr>
          <p:cNvSpPr txBox="1"/>
          <p:nvPr/>
        </p:nvSpPr>
        <p:spPr>
          <a:xfrm>
            <a:off x="355755" y="1012191"/>
            <a:ext cx="73818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Filtro que evidência as bordas de um objeto.</a:t>
            </a:r>
          </a:p>
        </p:txBody>
      </p:sp>
      <p:pic>
        <p:nvPicPr>
          <p:cNvPr id="7170" name="Picture 2" descr="Operador Prewitt – Wikipédia, a enciclopédia livre">
            <a:extLst>
              <a:ext uri="{FF2B5EF4-FFF2-40B4-BE49-F238E27FC236}">
                <a16:creationId xmlns:a16="http://schemas.microsoft.com/office/drawing/2014/main" id="{F9E2313F-6067-1C56-CF4D-F4DC718B53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778618"/>
            <a:ext cx="6409387" cy="964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32436949-018B-B241-D8C9-F06CF3F59E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5161" y="2989224"/>
            <a:ext cx="2145099" cy="2154227"/>
          </a:xfrm>
          <a:prstGeom prst="rect">
            <a:avLst/>
          </a:prstGeom>
        </p:spPr>
      </p:pic>
      <p:pic>
        <p:nvPicPr>
          <p:cNvPr id="17" name="Picture 4" descr="IMGedu">
            <a:extLst>
              <a:ext uri="{FF2B5EF4-FFF2-40B4-BE49-F238E27FC236}">
                <a16:creationId xmlns:a16="http://schemas.microsoft.com/office/drawing/2014/main" id="{EB6B38D7-4C1F-A679-C750-AAAE0183D7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534" y="3014957"/>
            <a:ext cx="375285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64556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11a3cd0d61f_0_227"/>
          <p:cNvSpPr txBox="1"/>
          <p:nvPr/>
        </p:nvSpPr>
        <p:spPr>
          <a:xfrm>
            <a:off x="1162075" y="234820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Prof. Dr. Diego Bruno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g11a3cd0d61f_0_227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Obrigado!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09" name="Google Shape;309;g11a3cd0d61f_0_2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g11a3cd0d61f_0_22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t>12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  <p:sp>
        <p:nvSpPr>
          <p:cNvPr id="312" name="Google Shape;312;g11a3cd0d61f_0_227"/>
          <p:cNvSpPr txBox="1"/>
          <p:nvPr/>
        </p:nvSpPr>
        <p:spPr>
          <a:xfrm>
            <a:off x="-272555" y="2104000"/>
            <a:ext cx="3997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 dirty="0">
                <a:solidFill>
                  <a:srgbClr val="FFFF00"/>
                </a:solidFill>
              </a:rPr>
              <a:t>                        Machine Learning</a:t>
            </a:r>
            <a:endParaRPr sz="1800" b="1" i="1">
              <a:solidFill>
                <a:srgbClr val="FFFF00"/>
              </a:solidFill>
            </a:endParaRPr>
          </a:p>
        </p:txBody>
      </p:sp>
      <p:pic>
        <p:nvPicPr>
          <p:cNvPr id="11" name="Picture 2" descr="Lenna - Wikipedia">
            <a:extLst>
              <a:ext uri="{FF2B5EF4-FFF2-40B4-BE49-F238E27FC236}">
                <a16:creationId xmlns:a16="http://schemas.microsoft.com/office/drawing/2014/main" id="{18133670-36CC-8F79-58A8-97F8E215C5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5689" y="1819402"/>
            <a:ext cx="2187197" cy="2187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Media Kit - OpenCV">
            <a:extLst>
              <a:ext uri="{FF2B5EF4-FFF2-40B4-BE49-F238E27FC236}">
                <a16:creationId xmlns:a16="http://schemas.microsoft.com/office/drawing/2014/main" id="{CF8F7B42-B959-61BC-A01B-34929BFCC4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4798" y="2988625"/>
            <a:ext cx="1159095" cy="1530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E48B58A68BE64E9120D347E3E06B3A" ma:contentTypeVersion="16" ma:contentTypeDescription="Crie um novo documento." ma:contentTypeScope="" ma:versionID="776c6dd0ea2199635295f0eace2bcdf2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cd0f52f09bfd34cabfd53d1cdf7dcbd2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Marcações de imagem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Props1.xml><?xml version="1.0" encoding="utf-8"?>
<ds:datastoreItem xmlns:ds="http://schemas.openxmlformats.org/officeDocument/2006/customXml" ds:itemID="{2865023C-D223-4816-A57B-DFE94EAB91C0}"/>
</file>

<file path=customXml/itemProps2.xml><?xml version="1.0" encoding="utf-8"?>
<ds:datastoreItem xmlns:ds="http://schemas.openxmlformats.org/officeDocument/2006/customXml" ds:itemID="{B4791146-1ECC-432E-94E9-5F4AF1EE30A3}"/>
</file>

<file path=customXml/itemProps3.xml><?xml version="1.0" encoding="utf-8"?>
<ds:datastoreItem xmlns:ds="http://schemas.openxmlformats.org/officeDocument/2006/customXml" ds:itemID="{30460C0C-3C95-4A2A-B85C-3C50FFE7ADCA}"/>
</file>

<file path=docProps/app.xml><?xml version="1.0" encoding="utf-8"?>
<Properties xmlns="http://schemas.openxmlformats.org/officeDocument/2006/extended-properties" xmlns:vt="http://schemas.openxmlformats.org/officeDocument/2006/docPropsVTypes">
  <TotalTime>2188</TotalTime>
  <Words>293</Words>
  <Application>Microsoft Office PowerPoint</Application>
  <PresentationFormat>Apresentação na tela (16:9)</PresentationFormat>
  <Paragraphs>58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7" baseType="lpstr">
      <vt:lpstr>Arial Narrow</vt:lpstr>
      <vt:lpstr>Century Gothic</vt:lpstr>
      <vt:lpstr>Arial</vt:lpstr>
      <vt:lpstr>Calibri</vt:lpstr>
      <vt:lpstr>Simple Light</vt:lpstr>
      <vt:lpstr>Apresentação do PowerPoint</vt:lpstr>
      <vt:lpstr>Apresentação do PowerPoint</vt:lpstr>
      <vt:lpstr>        </vt:lpstr>
      <vt:lpstr>        </vt:lpstr>
      <vt:lpstr>        </vt:lpstr>
      <vt:lpstr>        </vt:lpstr>
      <vt:lpstr>Apresentação do PowerPoint</vt:lpstr>
      <vt:lpstr>        </vt:lpstr>
      <vt:lpstr>        </vt:lpstr>
      <vt:lpstr>        </vt:lpstr>
      <vt:lpstr>        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Larissa Mestieri</dc:creator>
  <cp:lastModifiedBy>DIEGO RENAN BRUNO</cp:lastModifiedBy>
  <cp:revision>66</cp:revision>
  <dcterms:modified xsi:type="dcterms:W3CDTF">2022-06-28T19:01:06Z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</Properties>
</file>